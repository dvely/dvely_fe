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47472"/>
            <a:ext cx="109728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CD34D"/>
                </a:solidFill>
                <a:latin typeface="Apple SD Gothic Neo"/>
                <a:ea typeface="Apple SD Gothic Neo"/>
                <a:cs typeface="Apple SD Gothic Neo"/>
              </a:rPr>
              <a:t>32_DT_두산에너빌리티  ·  PBL ①~⑤ 요약 발표  ·  v3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111556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발전소 Digital Twin</a:t>
            </a:r>
          </a:p>
          <a:p>
            <a:pPr algn="l"/>
            <a:r>
              <a:rPr sz="36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4족 보행 로봇 자율 점검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9728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93C5FD"/>
                </a:solidFill>
                <a:latin typeface="Apple SD Gothic Neo"/>
                <a:ea typeface="Apple SD Gothic Neo"/>
                <a:cs typeface="Apple SD Gothic Neo"/>
              </a:rPr>
              <a:t>macOS + Docker arm64  ·  ROS 2 Jazzy  ·  Gazebo Harmonic  ·  Unitree Go2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40280"/>
            <a:ext cx="10881360" cy="1691640"/>
          </a:xfrm>
          <a:prstGeom prst="roundRect">
            <a:avLst>
              <a:gd name="adj" fmla="val 12000"/>
            </a:avLst>
          </a:prstGeom>
          <a:solidFill>
            <a:srgbClr val="163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10424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CD34D"/>
                </a:solidFill>
                <a:latin typeface="Apple SD Gothic Neo"/>
                <a:ea typeface="Apple SD Gothic Neo"/>
                <a:cs typeface="Apple SD Gothic Neo"/>
              </a:rPr>
              <a:t>프로젝트 한 문장 정의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33472"/>
            <a:ext cx="10424160" cy="11704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우리는 macOS + Docker(arm64 네이티브) 위에서 ROS 2 Jazzy와 Gazebo Harmonic으로 발전소 Digital Twin을 구축하고, 4족 보행 로봇이 험지를 스스로 통과하고(Locomotion), 아날로그 계기와 과열 배관을 눈으로 읽어내며(Inspection AI), 가스 누출원을 추적한 뒤 안전하게 복귀하는(Gas/Safety) 자율 점검 시스템을 개발하여, 그 모든 상태와 결과를 웹 관제 화면에 실시간 시각화한다.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114800"/>
            <a:ext cx="1874519" cy="347472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114800"/>
            <a:ext cx="1874519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필수 205h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24327" y="4114800"/>
            <a:ext cx="1965960" cy="347472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24327" y="4114800"/>
            <a:ext cx="1965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보너스 60h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0015" y="4114800"/>
            <a:ext cx="3246120" cy="347472"/>
          </a:xfrm>
          <a:prstGeom prst="roundRect">
            <a:avLst>
              <a:gd name="adj" fmla="val 12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0015" y="4114800"/>
            <a:ext cx="32461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Phase 0 실측 후 스택 변경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5863" y="4114800"/>
            <a:ext cx="3520440" cy="347472"/>
          </a:xfrm>
          <a:prstGeom prst="roundRect">
            <a:avLst>
              <a:gd name="adj" fmla="val 12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5863" y="4114800"/>
            <a:ext cx="35204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계획 → 실측 → 근거 있는 변경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709160"/>
            <a:ext cx="2084831" cy="960120"/>
          </a:xfrm>
          <a:prstGeom prst="roundRect">
            <a:avLst>
              <a:gd name="adj" fmla="val 12000"/>
            </a:avLst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773168"/>
            <a:ext cx="1901951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도훈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120640"/>
            <a:ext cx="1901951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BFDBFE"/>
                </a:solidFill>
                <a:latin typeface="Apple SD Gothic Neo"/>
                <a:ea typeface="Apple SD Gothic Neo"/>
                <a:cs typeface="Apple SD Gothic Neo"/>
              </a:rPr>
              <a:t>Locomotion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34639" y="4709160"/>
            <a:ext cx="2084831" cy="960120"/>
          </a:xfrm>
          <a:prstGeom prst="roundRect">
            <a:avLst>
              <a:gd name="adj" fmla="val 12000"/>
            </a:avLst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26079" y="4773168"/>
            <a:ext cx="1901951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운학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79" y="5120640"/>
            <a:ext cx="1901951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BFDBFE"/>
                </a:solidFill>
                <a:latin typeface="Apple SD Gothic Neo"/>
                <a:ea typeface="Apple SD Gothic Neo"/>
                <a:cs typeface="Apple SD Gothic Neo"/>
              </a:rPr>
              <a:t>Inspection AI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198" y="4709160"/>
            <a:ext cx="2084831" cy="960120"/>
          </a:xfrm>
          <a:prstGeom prst="roundRect">
            <a:avLst>
              <a:gd name="adj" fmla="val 12000"/>
            </a:avLst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38" y="4773168"/>
            <a:ext cx="1901951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태우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38" y="5120640"/>
            <a:ext cx="1901951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BFDBFE"/>
                </a:solidFill>
                <a:latin typeface="Apple SD Gothic Neo"/>
                <a:ea typeface="Apple SD Gothic Neo"/>
                <a:cs typeface="Apple SD Gothic Neo"/>
              </a:rPr>
              <a:t>순찰 경로 · Critical Path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23757" y="4709160"/>
            <a:ext cx="2084831" cy="960120"/>
          </a:xfrm>
          <a:prstGeom prst="roundRect">
            <a:avLst>
              <a:gd name="adj" fmla="val 12000"/>
            </a:avLst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197" y="4773168"/>
            <a:ext cx="1901951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수현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197" y="5120640"/>
            <a:ext cx="1901951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BFDBFE"/>
                </a:solidFill>
                <a:latin typeface="Apple SD Gothic Neo"/>
                <a:ea typeface="Apple SD Gothic Neo"/>
                <a:cs typeface="Apple SD Gothic Neo"/>
              </a:rPr>
              <a:t>Virtual Plant · 관제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18316" y="4709160"/>
            <a:ext cx="2084831" cy="960120"/>
          </a:xfrm>
          <a:prstGeom prst="roundRect">
            <a:avLst>
              <a:gd name="adj" fmla="val 12000"/>
            </a:avLst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09756" y="4773168"/>
            <a:ext cx="1901951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채현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56" y="5120640"/>
            <a:ext cx="1901951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BFDBFE"/>
                </a:solidFill>
                <a:latin typeface="Apple SD Gothic Neo"/>
                <a:ea typeface="Apple SD Gothic Neo"/>
                <a:cs typeface="Apple SD Gothic Neo"/>
              </a:rPr>
              <a:t>Gas / Safety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583680"/>
            <a:ext cx="109728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93C5FD"/>
                </a:solidFill>
                <a:latin typeface="Apple SD Gothic Neo"/>
                <a:ea typeface="Apple SD Gothic Neo"/>
                <a:cs typeface="Apple SD Gothic Neo"/>
              </a:rPr>
              <a:t>기준: 과제 요구사항 원문 + PLAN.md (2026-08-31, Phase 0 실측 후 Jazzy/Harmonic 확정)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E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73152"/>
            <a:ext cx="9509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CD34D"/>
                </a:solidFill>
                <a:latin typeface="Apple SD Gothic Neo"/>
                <a:ea typeface="Apple SD Gothic Neo"/>
                <a:cs typeface="Apple SD Gothic Neo"/>
              </a:rPr>
              <a:t>① 과제 분석  ·  1:30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10896"/>
            <a:ext cx="9692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우리가 해결해야 할 문제는 무엇인가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01168"/>
            <a:ext cx="15544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 i="0">
                <a:solidFill>
                  <a:srgbClr val="BFDBFE"/>
                </a:solidFill>
                <a:latin typeface="Apple SD Gothic Neo"/>
                <a:ea typeface="Apple SD Gothic Neo"/>
                <a:cs typeface="Apple SD Gothic Neo"/>
              </a:rPr>
              <a:t>2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6601968"/>
            <a:ext cx="11612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DT_두산에너빌리티  ·  계획 → 실측 → 근거 있는 변경  ·  ROS 2 Jazzy / Gazebo Harmonic / Unitree Go2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" y="868680"/>
            <a:ext cx="11612880" cy="111556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932688"/>
            <a:ext cx="11292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E4A7A"/>
                </a:solidFill>
                <a:latin typeface="Apple SD Gothic Neo"/>
                <a:ea typeface="Apple SD Gothic Neo"/>
                <a:cs typeface="Apple SD Gothic Neo"/>
              </a:rPr>
              <a:t>핵심 문제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11292840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사람이 들어가기 위험한 구역일수록 점검 주기가 짧고, 계기는 디지털 통신이 안 되는 아날로그 압력계다.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→ 작업자 안전 리스크  ·  데이터의 비정형·비실시간성  ·  이상 징후 조기 발견 실패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해결: 사람 대신 4족 보행 로봇을 보내고, 결과를 Digital Twin 관제 화면에서 실시간으로 확인한다. (가상 발전소에서 전 과정 검증)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103120"/>
            <a:ext cx="5852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E4A7A"/>
                </a:solidFill>
                <a:latin typeface="Apple SD Gothic Neo"/>
                <a:ea typeface="Apple SD Gothic Neo"/>
                <a:cs typeface="Apple SD Gothic Neo"/>
              </a:rPr>
              <a:t>Stakeholder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92608" y="2395728"/>
          <a:ext cx="594360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828800"/>
                <a:gridCol w="3200400"/>
              </a:tblGrid>
              <a:tr h="468629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구분</a:t>
                      </a:r>
                    </a:p>
                  </a:txBody>
                  <a:tcPr marL="54864" marR="54864" marT="36576" marB="36576" anchor="ctr">
                    <a:solidFill>
                      <a:srgbClr val="1E4A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대상</a:t>
                      </a:r>
                    </a:p>
                  </a:txBody>
                  <a:tcPr marL="54864" marR="54864" marT="36576" marB="36576" anchor="ctr">
                    <a:solidFill>
                      <a:srgbClr val="1E4A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기대하는 것</a:t>
                      </a:r>
                    </a:p>
                  </a:txBody>
                  <a:tcPr marL="54864" marR="54864" marT="36576" marB="36576" anchor="ctr">
                    <a:solidFill>
                      <a:srgbClr val="1E4A7A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1차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발전소 정비팀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위험 구역 무인 점검, 계기 수치 자동 기록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2차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로봇솔루션팀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실기 투입 전 보행·인식 알고리즘 검증 환경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</a:tr>
              <a:tr h="468632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3차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DX추진팀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설비 상태 데이터의 디지털화 및 관제 통합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446520" y="2103120"/>
            <a:ext cx="5394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E4A7A"/>
                </a:solidFill>
                <a:latin typeface="Apple SD Gothic Neo"/>
                <a:ea typeface="Apple SD Gothic Neo"/>
                <a:cs typeface="Apple SD Gothic Neo"/>
              </a:rPr>
              <a:t>최종 결과물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2395728"/>
            <a:ext cx="5440680" cy="36576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2395728"/>
            <a:ext cx="2331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E4A7A"/>
                </a:solidFill>
                <a:latin typeface="Menlo"/>
                <a:ea typeface="Menlo"/>
                <a:cs typeface="Menlo"/>
              </a:rPr>
              <a:t>module1_locomotion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2395728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험지 보행 · MPC · Fall Recovery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2798064"/>
            <a:ext cx="5440680" cy="36576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2798064"/>
            <a:ext cx="2331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E4A7A"/>
                </a:solidFill>
                <a:latin typeface="Menlo"/>
                <a:ea typeface="Menlo"/>
                <a:cs typeface="Menlo"/>
              </a:rPr>
              <a:t>module2_inspection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2798064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게이지 독해 · 열화상 퓨전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3200400"/>
            <a:ext cx="5440680" cy="36576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3200400"/>
            <a:ext cx="2331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E4A7A"/>
                </a:solidFill>
                <a:latin typeface="Menlo"/>
                <a:ea typeface="Menlo"/>
                <a:cs typeface="Menlo"/>
              </a:rPr>
              <a:t>module3_gas_safety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3200400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플룸 · Source Seeking · RTH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3602736"/>
            <a:ext cx="5440680" cy="36576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65392" y="3602736"/>
            <a:ext cx="2331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E4A7A"/>
                </a:solidFill>
                <a:latin typeface="Menlo"/>
                <a:ea typeface="Menlo"/>
                <a:cs typeface="Menlo"/>
              </a:rPr>
              <a:t>simulation /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3602736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월드 SDF · 웹 관제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4005072"/>
            <a:ext cx="5440680" cy="36576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65392" y="4005072"/>
            <a:ext cx="2331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E4A7A"/>
                </a:solidFill>
                <a:latin typeface="Menlo"/>
                <a:ea typeface="Menlo"/>
                <a:cs typeface="Menlo"/>
              </a:rPr>
              <a:t>docs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4005072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REPORT.md · README.md · LI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2608" y="4434840"/>
            <a:ext cx="11612880" cy="2011680"/>
          </a:xfrm>
          <a:prstGeom prst="roundRect">
            <a:avLst>
              <a:gd name="adj" fmla="val 12000"/>
            </a:avLst>
          </a:prstGeom>
          <a:solidFill>
            <a:srgbClr val="E8F0F8"/>
          </a:solidFill>
          <a:ln w="12700">
            <a:solidFill>
              <a:srgbClr val="1E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526280"/>
            <a:ext cx="11292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E4A7A"/>
                </a:solidFill>
                <a:latin typeface="Apple SD Gothic Neo"/>
                <a:ea typeface="Apple SD Gothic Neo"/>
                <a:cs typeface="Apple SD Gothic Neo"/>
              </a:rPr>
              <a:t>모델링 최소 조건  ·  GitHub Repository 1식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919472"/>
            <a:ext cx="219456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974336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복도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248656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1E4A7A"/>
                </a:solidFill>
                <a:latin typeface="Apple SD Gothic Neo"/>
                <a:ea typeface="Apple SD Gothic Neo"/>
                <a:cs typeface="Apple SD Gothic Neo"/>
              </a:rPr>
              <a:t>45 × 3.5 × 4 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24912" y="4919472"/>
            <a:ext cx="219456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24912" y="4974336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공장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24912" y="5248656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1E4A7A"/>
                </a:solidFill>
                <a:latin typeface="Apple SD Gothic Neo"/>
                <a:ea typeface="Apple SD Gothic Neo"/>
                <a:cs typeface="Apple SD Gothic Neo"/>
              </a:rPr>
              <a:t>25 × 18 × 7 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992624" y="4919472"/>
            <a:ext cx="219456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92624" y="4974336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험지 방해물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92624" y="5248656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1E4A7A"/>
                </a:solidFill>
                <a:latin typeface="Apple SD Gothic Neo"/>
                <a:ea typeface="Apple SD Gothic Neo"/>
                <a:cs typeface="Apple SD Gothic Neo"/>
              </a:rPr>
              <a:t>복도 3 · 공장 5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60336" y="4919472"/>
            <a:ext cx="219456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60336" y="4974336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로봇개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60336" y="5248656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1E4A7A"/>
                </a:solidFill>
                <a:latin typeface="Apple SD Gothic Neo"/>
                <a:ea typeface="Apple SD Gothic Neo"/>
                <a:cs typeface="Apple SD Gothic Neo"/>
              </a:rPr>
              <a:t>Unitree Go2 × 1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28048" y="4919472"/>
            <a:ext cx="219456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28048" y="4974336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공장기계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28048" y="5248656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1E4A7A"/>
                </a:solidFill>
                <a:latin typeface="Apple SD Gothic Neo"/>
                <a:ea typeface="Apple SD Gothic Neo"/>
                <a:cs typeface="Apple SD Gothic Neo"/>
              </a:rPr>
              <a:t>1기 + 가스탱크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779008"/>
            <a:ext cx="11292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실제 로봇 하드웨어는 쓰지 않는다. 가상 발전소(Virtual Plant)에서 보행·인식·가스 추적·관제까지 전 과정을 구현하고 정량 지표로 검증한다.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E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73152"/>
            <a:ext cx="9509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CD34D"/>
                </a:solidFill>
                <a:latin typeface="Apple SD Gothic Neo"/>
                <a:ea typeface="Apple SD Gothic Neo"/>
                <a:cs typeface="Apple SD Gothic Neo"/>
              </a:rPr>
              <a:t>① 과제 분석  ·  1:00  ·  DT-1 직접 답변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10896"/>
            <a:ext cx="9692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Digital Twin 4요소 ↔ 우리 구현물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01168"/>
            <a:ext cx="15544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 i="0">
                <a:solidFill>
                  <a:srgbClr val="BFDBFE"/>
                </a:solidFill>
                <a:latin typeface="Apple SD Gothic Neo"/>
                <a:ea typeface="Apple SD Gothic Neo"/>
                <a:cs typeface="Apple SD Gothic Neo"/>
              </a:rPr>
              <a:t>3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6601968"/>
            <a:ext cx="11612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DT_두산에너빌리티  ·  계획 → 실측 → 근거 있는 변경  ·  ROS 2 Jazzy / Gazebo Harmonic / Unitree Go2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56032" y="868680"/>
          <a:ext cx="1168603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5176"/>
                <a:gridCol w="2375209"/>
                <a:gridCol w="4275377"/>
                <a:gridCol w="3040268"/>
              </a:tblGrid>
              <a:tr h="832104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DT 구성 요소</a:t>
                      </a:r>
                    </a:p>
                  </a:txBody>
                  <a:tcPr marL="54864" marR="54864" marT="36576" marB="36576" anchor="ctr">
                    <a:solidFill>
                      <a:srgbClr val="1E4A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요구사항이 정의한 역할</a:t>
                      </a:r>
                    </a:p>
                  </a:txBody>
                  <a:tcPr marL="54864" marR="54864" marT="36576" marB="36576" anchor="ctr">
                    <a:solidFill>
                      <a:srgbClr val="1E4A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우리 구현 (Harmonic)</a:t>
                      </a:r>
                    </a:p>
                  </a:txBody>
                  <a:tcPr marL="54864" marR="54864" marT="36576" marB="36576" anchor="ctr">
                    <a:solidFill>
                      <a:srgbClr val="1E4A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실제 발전소 반영</a:t>
                      </a:r>
                    </a:p>
                  </a:txBody>
                  <a:tcPr marL="54864" marR="54864" marT="36576" marB="36576" anchor="ctr">
                    <a:solidFill>
                      <a:srgbClr val="1E4A7A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Virtual Plant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모든 데이터가 적용되는</a:t>
                      </a:r>
                    </a:p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가상 환경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simulation/worlds/</a:t>
                      </a:r>
                    </a:p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복도·공장 SDF, 계단, 파이프 잔해,</a:t>
                      </a:r>
                    </a:p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공장기계, 가스탱크 + heat signature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공간 치수, 통행 폭,</a:t>
                      </a:r>
                    </a:p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계단 경사, 장애물 밀도,</a:t>
                      </a:r>
                    </a:p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조명, 배관 표면 온도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Robot Twin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로봇 상태 및</a:t>
                      </a:r>
                    </a:p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센서 데이터 생성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Go2 URDF + gz_ros2_control</a:t>
                      </a:r>
                    </a:p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gpu_lidar / rgbd / thermal / IMU</a:t>
                      </a:r>
                    </a:p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가스 센서(자체 노드)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관절 구성, 센서 장착</a:t>
                      </a:r>
                    </a:p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위치·시야각, 배터리 소모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Inspection Data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로봇이 수집하는</a:t>
                      </a:r>
                    </a:p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설비 상태 데이터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/inspection/gauge_reading</a:t>
                      </a:r>
                    </a:p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/inspection/thermal_alert</a:t>
                      </a:r>
                    </a:p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/gas/concentration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아날로그 계기 수치,</a:t>
                      </a:r>
                    </a:p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배관 표면 온도(K),</a:t>
                      </a:r>
                    </a:p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가스 농도 분포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Monitoring System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분석 결과 및</a:t>
                      </a:r>
                    </a:p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로봇 상태 시각화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dashboard/</a:t>
                      </a:r>
                    </a:p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rosbridge + 웹 대시보드</a:t>
                      </a:r>
                    </a:p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(보너스①을 필수에 흡수)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로봇 위치, 임무 상태,</a:t>
                      </a:r>
                    </a:p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점검 이력, 가스 농도맵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256032" y="5166360"/>
            <a:ext cx="11686032" cy="1280160"/>
          </a:xfrm>
          <a:prstGeom prst="roundRect">
            <a:avLst>
              <a:gd name="adj" fmla="val 12000"/>
            </a:avLst>
          </a:prstGeom>
          <a:solidFill>
            <a:srgbClr val="FFFBEB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5257800"/>
            <a:ext cx="11338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B45309"/>
                </a:solidFill>
                <a:latin typeface="Apple SD Gothic Neo"/>
                <a:ea typeface="Apple SD Gothic Neo"/>
                <a:cs typeface="Apple SD Gothic Neo"/>
              </a:rPr>
              <a:t>발표에서 한 줄로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559552"/>
            <a:ext cx="1133856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Virtual Plant는 월드와 온도 태그, Robot Twin은 Go2와 센서(+thermal), Inspection Data는 게이지·열화상·가스 토픽,</a:t>
            </a:r>
          </a:p>
          <a:p>
            <a:pPr algn="l"/>
            <a:r>
              <a:rPr sz="14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Monitoring System은 rosbridge 웹 대시보드다. 네 요소가 각각 폴더와 토픽에 대응하므로 “역할만 나열한 팀”과 갈린다.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E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73152"/>
            <a:ext cx="9509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CD34D"/>
                </a:solidFill>
                <a:latin typeface="Apple SD Gothic Neo"/>
                <a:ea typeface="Apple SD Gothic Neo"/>
                <a:cs typeface="Apple SD Gothic Neo"/>
              </a:rPr>
              <a:t>① 과제 분석  ·  2:00  ·  차별화 포인트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10896"/>
            <a:ext cx="9692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Phase 0 실측 → 스택을 바꿨다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01168"/>
            <a:ext cx="15544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 i="0">
                <a:solidFill>
                  <a:srgbClr val="BFDBFE"/>
                </a:solidFill>
                <a:latin typeface="Apple SD Gothic Neo"/>
                <a:ea typeface="Apple SD Gothic Neo"/>
                <a:cs typeface="Apple SD Gothic Neo"/>
              </a:rPr>
              <a:t>4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6601968"/>
            <a:ext cx="11612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DT_두산에너빌리티  ·  계획 → 실측 → 근거 있는 변경  ·  ROS 2 Jazzy / Gazebo Harmonic / Unitree Go2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" y="841248"/>
            <a:ext cx="11686032" cy="658368"/>
          </a:xfrm>
          <a:prstGeom prst="roundRect">
            <a:avLst>
              <a:gd name="adj" fmla="val 12000"/>
            </a:avLst>
          </a:prstGeom>
          <a:solidFill>
            <a:srgbClr val="FFFBEB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896112"/>
            <a:ext cx="11338560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개발 머신이 macOS(Apple Silicon)라 ROS 2를 네이티브로 돌릴 수 없다.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우회가 아니라 부가 목표로 전환: 누구나  docker compose up  한 번으로 재현 가능한 무료 환경.  확정은 계획이 아니라 Phase 0 실측 이후.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56032" y="1627632"/>
          <a:ext cx="1168603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4271"/>
                <a:gridCol w="2024352"/>
                <a:gridCol w="4968864"/>
                <a:gridCol w="3128543"/>
              </a:tblGrid>
              <a:tr h="49149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864" marR="54864" marT="36576" marB="36576" anchor="ctr">
                    <a:solidFill>
                      <a:srgbClr val="1E4A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당초 계획</a:t>
                      </a:r>
                    </a:p>
                  </a:txBody>
                  <a:tcPr marL="54864" marR="54864" marT="36576" marB="36576" anchor="ctr">
                    <a:solidFill>
                      <a:srgbClr val="1E4A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실측 결과 (2026-08-31)</a:t>
                      </a:r>
                    </a:p>
                  </a:txBody>
                  <a:tcPr marL="54864" marR="54864" marT="36576" marB="36576" anchor="ctr">
                    <a:solidFill>
                      <a:srgbClr val="1E4A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최종 확정</a:t>
                      </a:r>
                    </a:p>
                  </a:txBody>
                  <a:tcPr marL="54864" marR="54864" marT="36576" marB="36576" anchor="ctr">
                    <a:solidFill>
                      <a:srgbClr val="1E4A7A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ROS 배포판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Humble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humble-desktop은 amd64 전용</a:t>
                      </a:r>
                    </a:p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에뮬레이션 빈 월드 RTF 0.5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Jazzy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시뮬레이터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Gazebo Classic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arm64에 Classic도 ros-gz-sim도 없음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Gazebo Harmonic (gz-sim8)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근거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—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Jazzy+Harmonic은 arm64에서</a:t>
                      </a:r>
                    </a:p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ros-gz-sim, gz_ros2_control, Nav2, Foxglove 제공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arm64 네이티브 실행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256032" y="3749039"/>
            <a:ext cx="5669280" cy="1737360"/>
          </a:xfrm>
          <a:prstGeom prst="roundRect">
            <a:avLst>
              <a:gd name="adj" fmla="val 12000"/>
            </a:avLst>
          </a:prstGeom>
          <a:solidFill>
            <a:srgbClr val="FFF7ED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" y="3749039"/>
            <a:ext cx="73152" cy="173736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" y="3822191"/>
            <a:ext cx="54132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9A3412"/>
                </a:solidFill>
                <a:latin typeface="Apple SD Gothic Neo"/>
                <a:ea typeface="Apple SD Gothic Neo"/>
                <a:cs typeface="Apple SD Gothic Neo"/>
              </a:rPr>
              <a:t>불리 — 시간 배분을 바꿈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" y="4096511"/>
            <a:ext cx="5413248" cy="13167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CHAMP 등 Humble 기준 4족 오픈소스는 Jazzy 포팅 검증이 필요하다.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→ 리스크 1순위. stage1을 1-A / 1-B로 이중화했다. (슬라이드 6)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71616" y="3749039"/>
            <a:ext cx="5870448" cy="1737360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71616" y="3749039"/>
            <a:ext cx="73152" cy="17373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3822191"/>
            <a:ext cx="5614416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유리 — 작업을 줄임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4096511"/>
            <a:ext cx="5614416" cy="13167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Harmonic에 thermal 카메라가 네이티브다 (type="thermal").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Classic 기준의 “열화상 합성 플러그인 자작”을 취소했다. 8h → 2h.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5596128"/>
            <a:ext cx="1161288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이 의사결정 기록 자체가 ①의 가장 강한 발표 재료다.  “계획대로 실행했다”가 아니라  계획 → 실측 → 근거 있는 변경.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전체-1(가장 어려웠던 기술적 문제)의 1순위 후보: Apple Silicon 실행 환경 + Jazzy/Harmonic 전환. 실측 데이터(RTF 0.5)를 보유한다.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E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73152"/>
            <a:ext cx="9509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CD34D"/>
                </a:solidFill>
                <a:latin typeface="Apple SD Gothic Neo"/>
                <a:ea typeface="Apple SD Gothic Neo"/>
                <a:cs typeface="Apple SD Gothic Neo"/>
              </a:rPr>
              <a:t>② 문제 분해  ·  1:30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10896"/>
            <a:ext cx="9692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의존 관계 — P2는 모듈이 아니라 인프라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01168"/>
            <a:ext cx="15544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 i="0">
                <a:solidFill>
                  <a:srgbClr val="BFDBFE"/>
                </a:solidFill>
                <a:latin typeface="Apple SD Gothic Neo"/>
                <a:ea typeface="Apple SD Gothic Neo"/>
                <a:cs typeface="Apple SD Gothic Neo"/>
              </a:rPr>
              <a:t>5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6601968"/>
            <a:ext cx="11612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DT_두산에너빌리티  ·  계획 → 실측 → 근거 있는 변경  ·  ROS 2 Jazzy / Gazebo Harmonic / Unitree Go2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" y="868680"/>
            <a:ext cx="11612880" cy="566928"/>
          </a:xfrm>
          <a:prstGeom prst="roundRect">
            <a:avLst>
              <a:gd name="adj" fmla="val 12000"/>
            </a:avLst>
          </a:prstGeom>
          <a:solidFill>
            <a:srgbClr val="1E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868680"/>
            <a:ext cx="113568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P0  개발환경   Docker arm64 / ROS 2 Jazzy / Gazebo Harmonic / Foxglove    ← 없으면 아무것도 실행 불가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" y="1572768"/>
            <a:ext cx="11612880" cy="566928"/>
          </a:xfrm>
          <a:prstGeom prst="roundRect">
            <a:avLst>
              <a:gd name="adj" fmla="val 12000"/>
            </a:avLst>
          </a:prstGeom>
          <a:solidFill>
            <a:srgbClr val="163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1572768"/>
            <a:ext cx="113568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P1  Virtual Plant + Robot Twin    월드 SDF · 온도 태깅 · Go2 URDF · 센서 + ros_gz_bridge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" y="2276856"/>
            <a:ext cx="11612880" cy="566928"/>
          </a:xfrm>
          <a:prstGeom prst="roundRect">
            <a:avLst>
              <a:gd name="adj" fmla="val 12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2276856"/>
            <a:ext cx="113568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P2  Module 1 · Locomotion    Terrain Mapping → stage1 보행 → stage2/3 MPC → Fall Recovery    ★ 55h 병목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" y="2907792"/>
            <a:ext cx="11612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여기서부터 병렬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8" y="3182112"/>
            <a:ext cx="3730752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2608" y="3182112"/>
            <a:ext cx="91440" cy="117043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" y="3236976"/>
            <a:ext cx="34290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P3  Module 2  Inspection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" y="3566160"/>
            <a:ext cx="3429000" cy="6766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게이지 · 열화상-RGB 정합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Viewpoint 순찰 경로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60520" y="3182112"/>
            <a:ext cx="3730752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60520" y="3182112"/>
            <a:ext cx="91440" cy="11704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61688" y="3236976"/>
            <a:ext cx="34290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B45309"/>
                </a:solidFill>
                <a:latin typeface="Apple SD Gothic Neo"/>
                <a:ea typeface="Apple SD Gothic Neo"/>
                <a:cs typeface="Apple SD Gothic Neo"/>
              </a:rPr>
              <a:t>P4  Module 3  Gas / Safety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61688" y="3566160"/>
            <a:ext cx="3429000" cy="6766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가우시안 플룸 · Source Seeking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Return to Home  (P2에 실질 의존)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28431" y="3182112"/>
            <a:ext cx="3730752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E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28431" y="3182112"/>
            <a:ext cx="91440" cy="1170432"/>
          </a:xfrm>
          <a:prstGeom prst="rect">
            <a:avLst/>
          </a:prstGeom>
          <a:solidFill>
            <a:srgbClr val="1E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3236976"/>
            <a:ext cx="34290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E4A7A"/>
                </a:solidFill>
                <a:latin typeface="Apple SD Gothic Neo"/>
                <a:ea typeface="Apple SD Gothic Neo"/>
                <a:cs typeface="Apple SD Gothic Neo"/>
              </a:rPr>
              <a:t>※ P5는 최종이되 규격은 선행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566160"/>
            <a:ext cx="3429000" cy="6766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토픽/QoS는 P3 착수 시 초안 확정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P5에서는 검증만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92608" y="4498848"/>
            <a:ext cx="5669280" cy="566928"/>
          </a:xfrm>
          <a:prstGeom prst="roundRect">
            <a:avLst>
              <a:gd name="adj" fmla="val 12000"/>
            </a:avLst>
          </a:prstGeom>
          <a:solidFill>
            <a:srgbClr val="1E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4498848"/>
            <a:ext cx="53949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P5  통신 규격 + Monitoring + 통합 시나리오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44768" y="4498848"/>
            <a:ext cx="2743200" cy="566928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36208" y="4498848"/>
            <a:ext cx="256032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P6  보너스 ②③④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70848" y="4498848"/>
            <a:ext cx="2816352" cy="566928"/>
          </a:xfrm>
          <a:prstGeom prst="roundRect">
            <a:avLst>
              <a:gd name="adj" fmla="val 12000"/>
            </a:avLst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62288" y="4498848"/>
            <a:ext cx="2633472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P7  검증 · 문서화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5193792"/>
            <a:ext cx="115214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▸  P2가 병목: 걷지 못하면 점검도 가스 추적도 시작 불가. Module 1은 Module 2·3의 전제조건이라 55h.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5541264"/>
            <a:ext cx="115214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▸  P1에 ros_gz_bridge가 들어가는 이유: Harmonic은 gz-transport. 브리지를 P2로 미루면 Elevation Map이 통째로 막힌다.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5888736"/>
            <a:ext cx="115214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▸  P3/P4 병렬: 가스 확산은 시뮬레이터 무관 자체 노드(가우시안 플룸)라 자원 경합이 없다.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E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73152"/>
            <a:ext cx="9509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CD34D"/>
                </a:solidFill>
                <a:latin typeface="Apple SD Gothic Neo"/>
                <a:ea typeface="Apple SD Gothic Neo"/>
                <a:cs typeface="Apple SD Gothic Neo"/>
              </a:rPr>
              <a:t>② 문제 분해  ·  1:30  ·  차별화 포인트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10896"/>
            <a:ext cx="9692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Module 1 3단 리스크 분해 + stage1 이중화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01168"/>
            <a:ext cx="15544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 i="0">
                <a:solidFill>
                  <a:srgbClr val="BFDBFE"/>
                </a:solidFill>
                <a:latin typeface="Apple SD Gothic Neo"/>
                <a:ea typeface="Apple SD Gothic Neo"/>
                <a:cs typeface="Apple SD Gothic Neo"/>
              </a:rPr>
              <a:t>6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6601968"/>
            <a:ext cx="11612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DT_두산에너빌리티  ·  계획 → 실측 → 근거 있는 변경  ·  ROS 2 Jazzy / Gazebo Harmonic / Unitree Go2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822960"/>
            <a:ext cx="11612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MPC는 실패 확률이 가장 높다.  완주 보장선과 도전선을 분리한다.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56032" y="1133856"/>
          <a:ext cx="1168603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725"/>
                <a:gridCol w="4199667"/>
                <a:gridCol w="3104102"/>
                <a:gridCol w="2008536"/>
              </a:tblGrid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단계</a:t>
                      </a:r>
                    </a:p>
                  </a:txBody>
                  <a:tcPr marL="54864" marR="54864" marT="36576" marB="36576" anchor="ctr">
                    <a:solidFill>
                      <a:srgbClr val="1E4A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내용</a:t>
                      </a:r>
                    </a:p>
                  </a:txBody>
                  <a:tcPr marL="54864" marR="54864" marT="36576" marB="36576" anchor="ctr">
                    <a:solidFill>
                      <a:srgbClr val="1E4A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성격</a:t>
                      </a:r>
                    </a:p>
                  </a:txBody>
                  <a:tcPr marL="54864" marR="54864" marT="36576" marB="36576" anchor="ctr">
                    <a:solidFill>
                      <a:srgbClr val="1E4A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실패 시 영향</a:t>
                      </a:r>
                    </a:p>
                  </a:txBody>
                  <a:tcPr marL="54864" marR="54864" marT="36576" marB="36576" anchor="ctr">
                    <a:solidFill>
                      <a:srgbClr val="1E4A7A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stage1  champ_tuning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기성 4족 스택 + 지형 적응 + Trot/Crawl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완주 보장선 — 필수 요건 충족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프로젝트 중단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stage2  simple_mpc_py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SRBD 간이 MPC를 Python으로 직접 구현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이해도 확보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없음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stage3  convex_mpc_cpp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Convex MPC (MIT Cheetah) C++ · 타임박스 10h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도전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없음 · 보고서에 시도·한계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256032" y="2944368"/>
            <a:ext cx="11686032" cy="640080"/>
          </a:xfrm>
          <a:prstGeom prst="roundRect">
            <a:avLst>
              <a:gd name="adj" fmla="val 12000"/>
            </a:avLst>
          </a:prstGeom>
          <a:solidFill>
            <a:srgbClr val="FFF7ED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2999232"/>
            <a:ext cx="11338560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Jazzy 전환으로 생긴 새 리스크: CHAMP는 Humble 기준이라 Jazzy에서 동작한다는 보장이 없다.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완주 보장선이 흔들리면 프로젝트 전체가 흔들린다.  그래서 stage1을 이중화했다.  판정은 P2 착수 전(P0 말~P1 초).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" y="3712463"/>
            <a:ext cx="5669280" cy="1417320"/>
          </a:xfrm>
          <a:prstGeom prst="roundRect">
            <a:avLst>
              <a:gd name="adj" fmla="val 12000"/>
            </a:avLst>
          </a:prstGeom>
          <a:solidFill>
            <a:srgbClr val="E8F0F8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6032" y="3712463"/>
            <a:ext cx="73152" cy="1417320"/>
          </a:xfrm>
          <a:prstGeom prst="rect">
            <a:avLst/>
          </a:prstGeom>
          <a:solidFill>
            <a:srgbClr val="1E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" y="3785615"/>
            <a:ext cx="54132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E4A7A"/>
                </a:solidFill>
                <a:latin typeface="Apple SD Gothic Neo"/>
                <a:ea typeface="Apple SD Gothic Neo"/>
                <a:cs typeface="Apple SD Gothic Neo"/>
              </a:rPr>
              <a:t>1-A  우선 경로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" y="4059935"/>
            <a:ext cx="5413248" cy="9966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CHAMP 커뮤니티 Jazzy 포크를 검증한 뒤 채택.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실패하면 즉시 1-B로 전환한다.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71616" y="3712463"/>
            <a:ext cx="5870448" cy="1417320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71616" y="3712463"/>
            <a:ext cx="73152" cy="14173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8" y="3785615"/>
            <a:ext cx="5614416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1-B  대체 경로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8" y="4059935"/>
            <a:ext cx="5614416" cy="9966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gz_ros2_control + 자체 게이트 생성기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(정적 보행 궤적 + 다리 역기구학)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6032" y="5257800"/>
            <a:ext cx="11686032" cy="118872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12700">
            <a:solidFill>
              <a:srgbClr val="1E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32180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E4A7A"/>
                </a:solidFill>
                <a:latin typeface="Apple SD Gothic Neo"/>
                <a:ea typeface="Apple SD Gothic Neo"/>
                <a:cs typeface="Apple SD Gothic Neo"/>
              </a:rPr>
              <a:t>1-B는 손실이 아니다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596128"/>
            <a:ext cx="1133856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발끝 궤적·역기구학 코드는 stage2 간이 MPC와 그대로 공유된다. 1-B로 가면 stage1과 stage2가 한 코드베이스로 합쳐져 총 작업량이 줄고,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“왜 직접 만들었는가”라는 심층 인터뷰 답변이 강해진다. 대신 stage1 튜닝 15h 일부가 구현으로 옮겨가므로 stage3(도전) 포기 가능성을 미리 연다.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E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73152"/>
            <a:ext cx="9509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CD34D"/>
                </a:solidFill>
                <a:latin typeface="Apple SD Gothic Neo"/>
                <a:ea typeface="Apple SD Gothic Neo"/>
                <a:cs typeface="Apple SD Gothic Neo"/>
              </a:rPr>
              <a:t>③ 학습 주제 도출  ·  1:30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10896"/>
            <a:ext cx="9692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Learning Issue 29개 — 우선순위가 학습 순서다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01168"/>
            <a:ext cx="15544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 i="0">
                <a:solidFill>
                  <a:srgbClr val="BFDBFE"/>
                </a:solidFill>
                <a:latin typeface="Apple SD Gothic Neo"/>
                <a:ea typeface="Apple SD Gothic Neo"/>
                <a:cs typeface="Apple SD Gothic Neo"/>
              </a:rPr>
              <a:t>7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6601968"/>
            <a:ext cx="11612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DT_두산에너빌리티  ·  계획 → 실측 → 근거 있는 변경  ·  ROS 2 Jazzy / Gazebo Harmonic / Unitree Go2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822960"/>
            <a:ext cx="11612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판단 기준  ① 다른 작업의 선행조건인가  ② 정량 목표에 직결되는가  ③ 실패 시 대체 수단이 있는가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" y="1170432"/>
            <a:ext cx="3730752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E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170432"/>
            <a:ext cx="91440" cy="1051560"/>
          </a:xfrm>
          <a:prstGeom prst="rect">
            <a:avLst/>
          </a:prstGeom>
          <a:solidFill>
            <a:srgbClr val="1E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243584"/>
            <a:ext cx="33832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1E4A7A"/>
                </a:solidFill>
                <a:latin typeface="Apple SD Gothic Neo"/>
                <a:ea typeface="Apple SD Gothic Neo"/>
                <a:cs typeface="Apple SD Gothic Neo"/>
              </a:rPr>
              <a:t>P0  15개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72768"/>
            <a:ext cx="33832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없으면 프로젝트가 멈춤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Phase 0~1에 집중 학습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1170432"/>
            <a:ext cx="3730752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60520" y="1170432"/>
            <a:ext cx="91440" cy="10515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61688" y="1243584"/>
            <a:ext cx="33832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B45309"/>
                </a:solidFill>
                <a:latin typeface="Apple SD Gothic Neo"/>
                <a:ea typeface="Apple SD Gothic Neo"/>
                <a:cs typeface="Apple SD Gothic Neo"/>
              </a:rPr>
              <a:t>P1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1688" y="1572768"/>
            <a:ext cx="33832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품질·정량 목표를 좌우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해당 Phase 착수 직전에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5008" y="1170432"/>
            <a:ext cx="3730752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5008" y="1170432"/>
            <a:ext cx="91440" cy="1051560"/>
          </a:xfrm>
          <a:prstGeom prst="rect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6176" y="1243584"/>
            <a:ext cx="33832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P2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1572768"/>
            <a:ext cx="33832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보너스·심화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Phase 6 직전에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" y="2359152"/>
            <a:ext cx="11612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E4A7A"/>
                </a:solidFill>
                <a:latin typeface="Apple SD Gothic Neo"/>
                <a:ea typeface="Apple SD Gothic Neo"/>
                <a:cs typeface="Apple SD Gothic Neo"/>
              </a:rPr>
              <a:t>P0 핵심 (신설 4개가 v2 대비 가장 큰 변화)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6032" y="2651760"/>
            <a:ext cx="5687568" cy="34747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" y="2651760"/>
            <a:ext cx="1051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E4A7A"/>
                </a:solidFill>
                <a:latin typeface="Menlo"/>
                <a:ea typeface="Menlo"/>
                <a:cs typeface="Menlo"/>
              </a:rPr>
              <a:t>LI-01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6464" y="2651760"/>
            <a:ext cx="12344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환경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79192" y="2651760"/>
            <a:ext cx="31546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Docker arm64 Jazzy 이미지 · Foxglove/noVNC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08192" y="2651760"/>
            <a:ext cx="5687568" cy="34747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9632" y="2651760"/>
            <a:ext cx="1051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E4A7A"/>
                </a:solidFill>
                <a:latin typeface="Menlo"/>
                <a:ea typeface="Menlo"/>
                <a:cs typeface="Menlo"/>
              </a:rPr>
              <a:t>LI-03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78624" y="2651760"/>
            <a:ext cx="12344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환경/제어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31352" y="2651760"/>
            <a:ext cx="31546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Humble→Jazzy 이식성 · 포팅 판정 절차  ★신설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6032" y="3035808"/>
            <a:ext cx="5687568" cy="34747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" y="3035808"/>
            <a:ext cx="1051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E4A7A"/>
                </a:solidFill>
                <a:latin typeface="Menlo"/>
                <a:ea typeface="Menlo"/>
                <a:cs typeface="Menlo"/>
              </a:rPr>
              <a:t>LI-04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26464" y="3035808"/>
            <a:ext cx="12344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시스템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79192" y="3035808"/>
            <a:ext cx="31546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ros_gz_bridge / ros_gz_image  ★신설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08192" y="3035808"/>
            <a:ext cx="5687568" cy="34747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99632" y="3035808"/>
            <a:ext cx="1051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E4A7A"/>
                </a:solidFill>
                <a:latin typeface="Menlo"/>
                <a:ea typeface="Menlo"/>
                <a:cs typeface="Menlo"/>
              </a:rPr>
              <a:t>LI-07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78624" y="3035808"/>
            <a:ext cx="12344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환경/비전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31352" y="3035808"/>
            <a:ext cx="31546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Harmonic thermal 센서 · heat signature  ★신설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56032" y="3419856"/>
            <a:ext cx="5687568" cy="34747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7472" y="3419856"/>
            <a:ext cx="1051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E4A7A"/>
                </a:solidFill>
                <a:latin typeface="Menlo"/>
                <a:ea typeface="Menlo"/>
                <a:cs typeface="Menlo"/>
              </a:rPr>
              <a:t>LI-12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26464" y="3419856"/>
            <a:ext cx="12344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제어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79192" y="3419856"/>
            <a:ext cx="31546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자체 게이트 생성기 (stage1-B)  ★신설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08192" y="3419856"/>
            <a:ext cx="5687568" cy="34747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99632" y="3419856"/>
            <a:ext cx="1051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E4A7A"/>
                </a:solidFill>
                <a:latin typeface="Menlo"/>
                <a:ea typeface="Menlo"/>
                <a:cs typeface="Menlo"/>
              </a:rPr>
              <a:t>LI-08·09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78624" y="3419856"/>
            <a:ext cx="12344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제어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31352" y="3419856"/>
            <a:ext cx="31546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PointCloud 필터 · Elevation Map · 발 디딤점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56032" y="3803904"/>
            <a:ext cx="5687568" cy="34747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7472" y="3803904"/>
            <a:ext cx="1051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E4A7A"/>
                </a:solidFill>
                <a:latin typeface="Menlo"/>
                <a:ea typeface="Menlo"/>
                <a:cs typeface="Menlo"/>
              </a:rPr>
              <a:t>LI-15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26464" y="3803904"/>
            <a:ext cx="12344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시스템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79192" y="3803904"/>
            <a:ext cx="31546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Nav2 Jazzy · costmap · Behavior Tree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08192" y="3803904"/>
            <a:ext cx="5687568" cy="34747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99632" y="3803904"/>
            <a:ext cx="1051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E4A7A"/>
                </a:solidFill>
                <a:latin typeface="Menlo"/>
                <a:ea typeface="Menlo"/>
                <a:cs typeface="Menlo"/>
              </a:rPr>
              <a:t>LI-16·18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78624" y="3803904"/>
            <a:ext cx="12344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비전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31352" y="3803904"/>
            <a:ext cx="31546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게이지 독해 · 열화상-RGB Extrinsic 정합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56032" y="4187952"/>
            <a:ext cx="5687568" cy="34747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7472" y="4187952"/>
            <a:ext cx="1051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E4A7A"/>
                </a:solidFill>
                <a:latin typeface="Menlo"/>
                <a:ea typeface="Menlo"/>
                <a:cs typeface="Menlo"/>
              </a:rPr>
              <a:t>LI-20·21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426464" y="4187952"/>
            <a:ext cx="12344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시스템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679192" y="4187952"/>
            <a:ext cx="31546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Gaussian Plume · Source Seeking / Infotaxis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108192" y="4187952"/>
            <a:ext cx="5687568" cy="34747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99632" y="4187952"/>
            <a:ext cx="1051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E4A7A"/>
                </a:solidFill>
                <a:latin typeface="Menlo"/>
                <a:ea typeface="Menlo"/>
                <a:cs typeface="Menlo"/>
              </a:rPr>
              <a:t>LI-23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78624" y="4187952"/>
            <a:ext cx="12344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시스템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31352" y="4187952"/>
            <a:ext cx="31546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TF2 · use_sim_time · message_filters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2608" y="5550408"/>
            <a:ext cx="11612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삭제: “Gazebo 커스텀 센서 플러그인 작성법” — 네이티브 thermal 사용으로 불필요.</a:t>
            </a:r>
          </a:p>
          <a:p>
            <a:pPr algn="l"/>
            <a:r>
              <a:rPr sz="1300" b="0" i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P1 예시: LI-13 MPC, LI-14 Fall Recovery, LI-17 저조도, LI-24 rosbridge.  P2: LI-26~29 RL·다중로봇·EC2.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E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73152"/>
            <a:ext cx="9509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CD34D"/>
                </a:solidFill>
                <a:latin typeface="Apple SD Gothic Neo"/>
                <a:ea typeface="Apple SD Gothic Neo"/>
                <a:cs typeface="Apple SD Gothic Neo"/>
              </a:rPr>
              <a:t>④ 자기주도 학습  ·  1:00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10896"/>
            <a:ext cx="9692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트랙별 배분 · 담당 산출물 · 학습 정리 템플릿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01168"/>
            <a:ext cx="15544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 i="0">
                <a:solidFill>
                  <a:srgbClr val="BFDBFE"/>
                </a:solidFill>
                <a:latin typeface="Apple SD Gothic Neo"/>
                <a:ea typeface="Apple SD Gothic Neo"/>
                <a:cs typeface="Apple SD Gothic Neo"/>
              </a:rPr>
              <a:t>8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6601968"/>
            <a:ext cx="11612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DT_두산에너빌리티  ·  계획 → 실측 → 근거 있는 변경  ·  ROS 2 Jazzy / Gazebo Harmonic / Unitree Go2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56032" y="868680"/>
          <a:ext cx="6903719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6644"/>
                <a:gridCol w="2945587"/>
                <a:gridCol w="2761488"/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이름</a:t>
                      </a:r>
                    </a:p>
                  </a:txBody>
                  <a:tcPr marL="54864" marR="54864" marT="36576" marB="36576" anchor="ctr">
                    <a:solidFill>
                      <a:srgbClr val="1E4A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담당</a:t>
                      </a:r>
                    </a:p>
                  </a:txBody>
                  <a:tcPr marL="54864" marR="54864" marT="36576" marB="36576" anchor="ctr">
                    <a:solidFill>
                      <a:srgbClr val="1E4A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맞닿는 트랙</a:t>
                      </a:r>
                    </a:p>
                  </a:txBody>
                  <a:tcPr marL="54864" marR="54864" marT="36576" marB="36576" anchor="ctr">
                    <a:solidFill>
                      <a:srgbClr val="1E4A7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도훈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Locomotion control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제어 LI-08~14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운학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Inspection AI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비전 LI-16~18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태우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순찰 경로 · Critical Path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비전 LI-19 · /patrol_mission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수현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Gazebo Virtual Plant + 관제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환경 LI-05~07 · 시스템 LI-24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채현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Gas / Safety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시스템 LI-20~22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0" y="868680"/>
          <a:ext cx="4617719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2961"/>
                <a:gridCol w="3324758"/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트랙</a:t>
                      </a:r>
                    </a:p>
                  </a:txBody>
                  <a:tcPr marL="54864" marR="54864" marT="36576" marB="36576" anchor="ctr">
                    <a:solidFill>
                      <a:srgbClr val="1E4A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산출물</a:t>
                      </a:r>
                    </a:p>
                  </a:txBody>
                  <a:tcPr marL="54864" marR="54864" marT="36576" marB="36576" anchor="ctr">
                    <a:solidFill>
                      <a:srgbClr val="1E4A7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환경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docker/  simulation/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제어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module1_locomotion/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비전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module2_inspection/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시스템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module3_gas_safety/</a:t>
                      </a:r>
                    </a:p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dashboard/  통신 규격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공통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REPORT.md Sim2Real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256032" y="3611880"/>
            <a:ext cx="5760720" cy="278892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12700">
            <a:solidFill>
              <a:srgbClr val="1E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3703320"/>
            <a:ext cx="54406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E4A7A"/>
                </a:solidFill>
                <a:latin typeface="Menlo"/>
                <a:ea typeface="Menlo"/>
                <a:cs typeface="Menlo"/>
              </a:rPr>
              <a:t>docs/learning/LI-XX.md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4041648"/>
            <a:ext cx="544068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1. 핵심 개념 요약 (5줄 이내)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2. 우리 코드의 어디에 들어가는가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    파일 경로 / 입력 토픽 / 출력 토픽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3. 선택한 방법과 근거 (대안 대비)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4. 예상 어려움 / 미해결 질문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5. 출처 (URL · 논문 · 접근일)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6. 이 LI가 답하는 동료평가 질문 번호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611880"/>
            <a:ext cx="5760720" cy="2788920"/>
          </a:xfrm>
          <a:prstGeom prst="roundRect">
            <a:avLst>
              <a:gd name="adj" fmla="val 12000"/>
            </a:avLst>
          </a:prstGeom>
          <a:solidFill>
            <a:srgbClr val="FFFBEB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703320"/>
            <a:ext cx="54406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B45309"/>
                </a:solidFill>
                <a:latin typeface="Apple SD Gothic Neo"/>
                <a:ea typeface="Apple SD Gothic Neo"/>
                <a:cs typeface="Apple SD Gothic Neo"/>
              </a:rPr>
              <a:t>규칙 두 가지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069080"/>
            <a:ext cx="5440680" cy="2148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① 개념 요약보다 “우리 코드의 어느 파일에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    어떻게 들어가는가”를 반드시 한 줄 이상.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② 6번(대응 평가 질문)을 채운다.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    이 문서가 그대로 심층 인터뷰 답변 초안.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태우의 Viewpoint/TSP(LI-19)는 운학과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/patrol_mission Action · 비용함수 입력을 P3 전에 맞춘다.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E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73152"/>
            <a:ext cx="9509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CD34D"/>
                </a:solidFill>
                <a:latin typeface="Apple SD Gothic Neo"/>
                <a:ea typeface="Apple SD Gothic Neo"/>
                <a:cs typeface="Apple SD Gothic Neo"/>
              </a:rPr>
              <a:t>⑤ 실행계획  ·  2:00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10896"/>
            <a:ext cx="9692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Phase 로드맵 205h + 보너스 60h  ·  평가 지표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01168"/>
            <a:ext cx="15544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 i="0">
                <a:solidFill>
                  <a:srgbClr val="BFDBFE"/>
                </a:solidFill>
                <a:latin typeface="Apple SD Gothic Neo"/>
                <a:ea typeface="Apple SD Gothic Neo"/>
                <a:cs typeface="Apple SD Gothic Neo"/>
              </a:rPr>
              <a:t>9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6601968"/>
            <a:ext cx="11612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DT_두산에너빌리티  ·  계획 → 실측 → 근거 있는 변경  ·  ROS 2 Jazzy / Gazebo Harmonic / Unitree Go2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01168" y="841248"/>
          <a:ext cx="763524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77240"/>
                <a:gridCol w="3520440"/>
                <a:gridCol w="1371600"/>
              </a:tblGrid>
              <a:tr h="41605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Phase</a:t>
                      </a:r>
                    </a:p>
                  </a:txBody>
                  <a:tcPr marL="54864" marR="54864" marT="36576" marB="36576" anchor="ctr">
                    <a:solidFill>
                      <a:srgbClr val="1E4A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시간</a:t>
                      </a:r>
                    </a:p>
                  </a:txBody>
                  <a:tcPr marL="54864" marR="54864" marT="36576" marB="36576" anchor="ctr">
                    <a:solidFill>
                      <a:srgbClr val="1E4A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완료 기준</a:t>
                      </a:r>
                    </a:p>
                  </a:txBody>
                  <a:tcPr marL="54864" marR="54864" marT="36576" marB="36576" anchor="ctr">
                    <a:solidFill>
                      <a:srgbClr val="1E4A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평가</a:t>
                      </a:r>
                    </a:p>
                  </a:txBody>
                  <a:tcPr marL="54864" marR="54864" marT="36576" marB="36576" anchor="ctr">
                    <a:solidFill>
                      <a:srgbClr val="1E4A7A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P0 개발환경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15h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compose up → 빈 월드, RTF ≥ 0.8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—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P1 Virtual Plant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25h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최소 모델링 + ROS에서 전 센서 수신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DT-1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P2 Locomotion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55h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험지·계단 통과, 넘어짐 시 자동 기립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M1-1~3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P3 Inspection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29h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이동 중 판독 오차 ≤5%, 과열 검출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M2-1~3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P4 Gas/Safety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30h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임의 누출원 추적, 비상 시 복귀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M3-1,2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P5 통합+관제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30h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스크립트 1개 시나리오 + 대시보드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통합·DT-2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P6 보너스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60h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RL · 다중로봇 · 클라우드 관제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DT-3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P7 문서화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15h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제출 요건 7종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전체-1,2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예비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6h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stage1 이중화 버퍼 (P3 절감분)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—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973568" y="841248"/>
            <a:ext cx="3977639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E4A7A"/>
                </a:solidFill>
                <a:latin typeface="Apple SD Gothic Neo"/>
                <a:ea typeface="Apple SD Gothic Neo"/>
                <a:cs typeface="Apple SD Gothic Neo"/>
              </a:rPr>
              <a:t>정량 목표 (P7에서 측정)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3568" y="1152144"/>
            <a:ext cx="3977639" cy="34747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83296" y="1152144"/>
            <a:ext cx="2331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빈 월드 RTF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1152144"/>
            <a:ext cx="14173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 i="0">
                <a:solidFill>
                  <a:srgbClr val="1E4A7A"/>
                </a:solidFill>
                <a:latin typeface="Apple SD Gothic Neo"/>
                <a:ea typeface="Apple SD Gothic Neo"/>
                <a:cs typeface="Apple SD Gothic Neo"/>
              </a:rPr>
              <a:t>≥ 0.8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536192"/>
            <a:ext cx="3977639" cy="34747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83296" y="1536192"/>
            <a:ext cx="2331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통합 시나리오 RTF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1536192"/>
            <a:ext cx="14173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 i="0">
                <a:solidFill>
                  <a:srgbClr val="1E4A7A"/>
                </a:solidFill>
                <a:latin typeface="Apple SD Gothic Neo"/>
                <a:ea typeface="Apple SD Gothic Neo"/>
                <a:cs typeface="Apple SD Gothic Neo"/>
              </a:rPr>
              <a:t>≥ 0.6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1920240"/>
            <a:ext cx="3977639" cy="34747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3296" y="1920240"/>
            <a:ext cx="2331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험지 넘어짐 / 10회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1920240"/>
            <a:ext cx="14173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 i="0">
                <a:solidFill>
                  <a:srgbClr val="1E4A7A"/>
                </a:solidFill>
                <a:latin typeface="Apple SD Gothic Neo"/>
                <a:ea typeface="Apple SD Gothic Neo"/>
                <a:cs typeface="Apple SD Gothic Neo"/>
              </a:rPr>
              <a:t>≤ 1회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8" y="2304288"/>
            <a:ext cx="3977639" cy="34747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83296" y="2304288"/>
            <a:ext cx="2331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Fall Recovery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2304288"/>
            <a:ext cx="14173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 i="0">
                <a:solidFill>
                  <a:srgbClr val="1E4A7A"/>
                </a:solidFill>
                <a:latin typeface="Apple SD Gothic Neo"/>
                <a:ea typeface="Apple SD Gothic Neo"/>
                <a:cs typeface="Apple SD Gothic Neo"/>
              </a:rPr>
              <a:t>≥ 90%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3568" y="2688336"/>
            <a:ext cx="3977639" cy="34747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3296" y="2688336"/>
            <a:ext cx="2331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게이지 판독 오차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2688336"/>
            <a:ext cx="14173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 i="0">
                <a:solidFill>
                  <a:srgbClr val="1E4A7A"/>
                </a:solidFill>
                <a:latin typeface="Apple SD Gothic Neo"/>
                <a:ea typeface="Apple SD Gothic Neo"/>
                <a:cs typeface="Apple SD Gothic Neo"/>
              </a:rPr>
              <a:t>≤ 5%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73568" y="3072384"/>
            <a:ext cx="3977639" cy="34747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3296" y="3072384"/>
            <a:ext cx="2331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열화상-RGB 정합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3072384"/>
            <a:ext cx="14173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 i="0">
                <a:solidFill>
                  <a:srgbClr val="1E4A7A"/>
                </a:solidFill>
                <a:latin typeface="Apple SD Gothic Neo"/>
                <a:ea typeface="Apple SD Gothic Neo"/>
                <a:cs typeface="Apple SD Gothic Neo"/>
              </a:rPr>
              <a:t>≤ 10 px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73568" y="3456432"/>
            <a:ext cx="3977639" cy="34747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3296" y="3456432"/>
            <a:ext cx="2331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누출원 탐지 / 거리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3456432"/>
            <a:ext cx="14173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 i="0">
                <a:solidFill>
                  <a:srgbClr val="1E4A7A"/>
                </a:solidFill>
                <a:latin typeface="Apple SD Gothic Neo"/>
                <a:ea typeface="Apple SD Gothic Neo"/>
                <a:cs typeface="Apple SD Gothic Neo"/>
              </a:rPr>
              <a:t>≥80% / ≤1m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73568" y="3840480"/>
            <a:ext cx="3977639" cy="34747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3296" y="3840480"/>
            <a:ext cx="2331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Return to Home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3840480"/>
            <a:ext cx="14173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 i="0">
                <a:solidFill>
                  <a:srgbClr val="1E4A7A"/>
                </a:solidFill>
                <a:latin typeface="Apple SD Gothic Neo"/>
                <a:ea typeface="Apple SD Gothic Neo"/>
                <a:cs typeface="Apple SD Gothic Neo"/>
              </a:rPr>
              <a:t>100% (20%)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73568" y="4224528"/>
            <a:ext cx="3977639" cy="34747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83296" y="4224528"/>
            <a:ext cx="2331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대시보드 E2E 지연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0" y="4224528"/>
            <a:ext cx="14173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 i="0">
                <a:solidFill>
                  <a:srgbClr val="1E4A7A"/>
                </a:solidFill>
                <a:latin typeface="Apple SD Gothic Neo"/>
                <a:ea typeface="Apple SD Gothic Neo"/>
                <a:cs typeface="Apple SD Gothic Neo"/>
              </a:rPr>
              <a:t>≤ 500 ms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01168" y="5120640"/>
            <a:ext cx="11795760" cy="1325880"/>
          </a:xfrm>
          <a:prstGeom prst="roundRect">
            <a:avLst>
              <a:gd name="adj" fmla="val 12000"/>
            </a:avLst>
          </a:prstGeom>
          <a:solidFill>
            <a:srgbClr val="E8F0F8"/>
          </a:solidFill>
          <a:ln w="12700">
            <a:solidFill>
              <a:srgbClr val="1E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" y="5193792"/>
            <a:ext cx="11430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E4A7A"/>
                </a:solidFill>
                <a:latin typeface="Apple SD Gothic Neo"/>
                <a:ea typeface="Apple SD Gothic Neo"/>
                <a:cs typeface="Apple SD Gothic Neo"/>
              </a:rPr>
              <a:t>시간 배분의 이유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048" y="5486400"/>
            <a:ext cx="11430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P2 55h가 최대: 보행이 나머지 모듈의 전제조건.  P3는 thermal 플러그인 자작 취소로 6h 절감 → 예비 6h로 P2(stage1 이중화)에 이관.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P1은 ros_gz_bridge(+3h)와 발열 오브젝트 태깅(+2h)이 늘어 25h.  Phase 완료 기준을 통과하기 전에는 다음 Phase에 착수하지 않는다.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데모 영상은 각 Phase 완료 시점에 바로 녹화한다. (P2 험지 / P3 게이지+퓨전 / P4 추적 경로 / P5 통합+대시보드)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E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73152"/>
            <a:ext cx="9509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CD34D"/>
                </a:solidFill>
                <a:latin typeface="Apple SD Gothic Neo"/>
                <a:ea typeface="Apple SD Gothic Neo"/>
                <a:cs typeface="Apple SD Gothic Neo"/>
              </a:rPr>
              <a:t>⑤ 실행계획  ·  1:00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10896"/>
            <a:ext cx="9692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리스크 관리 + 보너스 범위 결정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01168"/>
            <a:ext cx="15544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 i="0">
                <a:solidFill>
                  <a:srgbClr val="BFDBFE"/>
                </a:solidFill>
                <a:latin typeface="Apple SD Gothic Neo"/>
                <a:ea typeface="Apple SD Gothic Neo"/>
                <a:cs typeface="Apple SD Gothic Neo"/>
              </a:rPr>
              <a:t>10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6601968"/>
            <a:ext cx="11612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DT_두산에너빌리티  ·  계획 → 실측 → 근거 있는 변경  ·  ROS 2 Jazzy / Gazebo Harmonic / Unitree Go2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01168" y="841248"/>
          <a:ext cx="1179576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4023360"/>
                <a:gridCol w="7269480"/>
              </a:tblGrid>
              <a:tr h="360680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#</a:t>
                      </a:r>
                    </a:p>
                  </a:txBody>
                  <a:tcPr marL="54864" marR="54864" marT="36576" marB="36576" anchor="ctr">
                    <a:solidFill>
                      <a:srgbClr val="1E4A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리스크</a:t>
                      </a:r>
                    </a:p>
                  </a:txBody>
                  <a:tcPr marL="54864" marR="54864" marT="36576" marB="36576" anchor="ctr">
                    <a:solidFill>
                      <a:srgbClr val="1E4A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대응</a:t>
                      </a:r>
                    </a:p>
                  </a:txBody>
                  <a:tcPr marL="54864" marR="54864" marT="36576" marB="36576" anchor="ctr">
                    <a:solidFill>
                      <a:srgbClr val="1E4A7A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CHAMP 등 4족 오픈소스 Jazzy 미지원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포크 검증 → 실패 시 1-B. 궤적을 stage2와 공유. P2 전 판정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Apple Silicon Gazebo 성능 저하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물리 스텝 조정, headless+Foxglove. 최악 시 EC2 CPU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ros_gz_bridge 이미지 지연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ros_gz_image 압축, 필요 토픽만 선별 브리징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stage3 C++ MPC 미완성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영향 없음(stage1이 요건 충족). 타임박스 10h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제공 에셋 포맷 비호환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Blender 변환 우선. 불가 시 자체 모델링(과제 허용)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RL 정책의 Gazebo 이식 실패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도메인 랜덤화. 실패 시 학습 곡선만 보고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7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EC2 비용 초과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스팟 + 자동 중지 + $30 예산 알람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8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환경 재전환 유혹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Phase 2 이후 Isaac Sim 전환 금지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56032" y="4187952"/>
            <a:ext cx="11612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E4A7A"/>
                </a:solidFill>
                <a:latin typeface="Apple SD Gothic Neo"/>
                <a:ea typeface="Apple SD Gothic Neo"/>
                <a:cs typeface="Apple SD Gothic Neo"/>
              </a:rPr>
              <a:t>보너스 범위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" y="4480560"/>
            <a:ext cx="2852928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1168" y="4480560"/>
            <a:ext cx="73152" cy="1051560"/>
          </a:xfrm>
          <a:prstGeom prst="rect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4535424"/>
            <a:ext cx="26060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① 실시간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864608"/>
            <a:ext cx="2606040" cy="6035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필수에 흡수 (P5)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Monitoring이 이미 필수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4480560"/>
            <a:ext cx="2852928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0" y="4480560"/>
            <a:ext cx="73152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64992" y="4535424"/>
            <a:ext cx="26060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③ RL 보행  수행 30h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64992" y="4864608"/>
            <a:ext cx="2606040" cy="6035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EC2 스팟. Sim2Sim 이식이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DT-3(Sim2Real)의 실전 답변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2" y="4480560"/>
            <a:ext cx="2852928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9632" y="4480560"/>
            <a:ext cx="73152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4535424"/>
            <a:ext cx="26060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② 다중 로봇  수행 15h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4864608"/>
            <a:ext cx="2606040" cy="6035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네임스페이스 분리만으로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구현 가능. 투자 대비 효과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98864" y="4480560"/>
            <a:ext cx="2852928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98864" y="4480560"/>
            <a:ext cx="73152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63456" y="4535424"/>
            <a:ext cx="26060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④ 클라우드 관제  15h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63456" y="4864608"/>
            <a:ext cx="2606040" cy="6035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① 대시보드를 EC2에 배포.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한계비용이 낮음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" y="5623560"/>
            <a:ext cx="116128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협업: Git Flow (main / develop / feature/module{n}-{task}) · Issue+Kanban · 주 1회 통합 빌드 + LI 세미나 10분.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의사결정 기록: Phase 0의 Jazzy 전환처럼 계획을 바꾼 판단은 docs/decisions/에 실측 근거와 함께 남긴다. REPORT.md 소재로 직결.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E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73152"/>
            <a:ext cx="9509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CD34D"/>
                </a:solidFill>
                <a:latin typeface="Apple SD Gothic Neo"/>
                <a:ea typeface="Apple SD Gothic Neo"/>
                <a:cs typeface="Apple SD Gothic Neo"/>
              </a:rPr>
              <a:t>부록 A  ·  1:00  ·  통합-1 · 통합-2 · DT-2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10896"/>
            <a:ext cx="9692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ROS 2 통신 구조 — Harmonic 브리지가 핵심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01168"/>
            <a:ext cx="15544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 i="0">
                <a:solidFill>
                  <a:srgbClr val="BFDBFE"/>
                </a:solidFill>
                <a:latin typeface="Apple SD Gothic Neo"/>
                <a:ea typeface="Apple SD Gothic Neo"/>
                <a:cs typeface="Apple SD Gothic Neo"/>
              </a:rPr>
              <a:t>11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6601968"/>
            <a:ext cx="11612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DT_두산에너빌리티  ·  계획 → 실측 → 근거 있는 변경  ·  ROS 2 Jazzy / Gazebo Harmonic / Unitree Go2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" y="841248"/>
            <a:ext cx="11686032" cy="1417320"/>
          </a:xfrm>
          <a:prstGeom prst="roundRect">
            <a:avLst>
              <a:gd name="adj" fmla="val 12000"/>
            </a:avLst>
          </a:prstGeom>
          <a:solidFill>
            <a:srgbClr val="0F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914400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CD34D"/>
                </a:solidFill>
                <a:latin typeface="Apple SD Gothic Neo"/>
                <a:ea typeface="Apple SD Gothic Neo"/>
                <a:cs typeface="Apple SD Gothic Neo"/>
              </a:rPr>
              <a:t>A-0  브리지 계층 (v3 신설 — Classic에는 없던 단계)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207008"/>
            <a:ext cx="1133856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Gazebo Harmonic 센서는 gz-transport로 발행된다. ROS 2 노드는 직접 구독할 수 없다.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[gz-transport]  →  ros_gz_bridge (LiDAR, IMU, JointState, Clock, cmd_vel)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                →  ros_gz_image  (RGB, Depth, Thermal · 압축)   →  [ROS 2 Jazzy] sensor_msgs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설계 원칙: 필요 토픽만 선별 브리징.  /clock은 gz→ROS 단방향. 전 노드 use_sim_time: true.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01168" y="2377440"/>
          <a:ext cx="717804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200400"/>
                <a:gridCol w="2606040"/>
              </a:tblGrid>
              <a:tr h="58293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방식</a:t>
                      </a:r>
                    </a:p>
                  </a:txBody>
                  <a:tcPr marL="54864" marR="54864" marT="36576" marB="36576" anchor="ctr">
                    <a:solidFill>
                      <a:srgbClr val="1E4A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사용 대상</a:t>
                      </a:r>
                    </a:p>
                  </a:txBody>
                  <a:tcPr marL="54864" marR="54864" marT="36576" marB="36576" anchor="ctr">
                    <a:solidFill>
                      <a:srgbClr val="1E4A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이유</a:t>
                      </a:r>
                    </a:p>
                  </a:txBody>
                  <a:tcPr marL="54864" marR="54864" marT="36576" marB="36576" anchor="ctr">
                    <a:solidFill>
                      <a:srgbClr val="1E4A7A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Topic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센서 스트림, 상태, 점검 결과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다수 구독 · 연속·비동기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Service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/set_gait_mode, /trigger_gauge_read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즉시 응답, 짧은 요청-응답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Action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/patrol_mission, /seek_gas_source</a:t>
                      </a:r>
                    </a:p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/return_to_home, /fall_recovery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수 초~수 분, 진행률·취소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543800" y="2377440"/>
            <a:ext cx="4389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E4A7A"/>
                </a:solidFill>
                <a:latin typeface="Apple SD Gothic Neo"/>
                <a:ea typeface="Apple SD Gothic Neo"/>
                <a:cs typeface="Apple SD Gothic Neo"/>
              </a:rPr>
              <a:t>QoS 한 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2670048"/>
            <a:ext cx="4389120" cy="4572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2670048"/>
            <a:ext cx="41605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E4A7A"/>
                </a:solidFill>
                <a:latin typeface="Apple SD Gothic Neo"/>
                <a:ea typeface="Apple SD Gothic Neo"/>
                <a:cs typeface="Apple SD Gothic Neo"/>
              </a:rPr>
              <a:t>센서 스트림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2871216"/>
            <a:ext cx="41605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BestEffort  ·  드롭 허용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3163824"/>
            <a:ext cx="4389120" cy="4572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2" y="3163824"/>
            <a:ext cx="41605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E4A7A"/>
                </a:solidFill>
                <a:latin typeface="Apple SD Gothic Neo"/>
                <a:ea typeface="Apple SD Gothic Neo"/>
                <a:cs typeface="Apple SD Gothic Neo"/>
              </a:rPr>
              <a:t>점검 결과 · 상태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2" y="3364992"/>
            <a:ext cx="41605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Reliable + TransientLocal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43800" y="3657600"/>
            <a:ext cx="4389120" cy="4572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2" y="3657600"/>
            <a:ext cx="41605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E4A7A"/>
                </a:solidFill>
                <a:latin typeface="Apple SD Gothic Neo"/>
                <a:ea typeface="Apple SD Gothic Neo"/>
                <a:cs typeface="Apple SD Gothic Neo"/>
              </a:rPr>
              <a:t>/gait_mode, /robot/status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62672" y="3858768"/>
            <a:ext cx="41605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늦게 붙은 대시보드도 마지막 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43800" y="4151376"/>
            <a:ext cx="4389120" cy="4572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62672" y="4151376"/>
            <a:ext cx="41605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E4A7A"/>
                </a:solidFill>
                <a:latin typeface="Apple SD Gothic Neo"/>
                <a:ea typeface="Apple SD Gothic Neo"/>
                <a:cs typeface="Apple SD Gothic Neo"/>
              </a:rPr>
              <a:t>열화상 이미지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62672" y="4352544"/>
            <a:ext cx="41605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L16, 9Hz  ·  raw×resolution=K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01168" y="4828032"/>
            <a:ext cx="11795760" cy="16002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12700">
            <a:solidFill>
              <a:srgbClr val="1E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4901184"/>
            <a:ext cx="11430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E4A7A"/>
                </a:solidFill>
                <a:latin typeface="Apple SD Gothic Neo"/>
                <a:ea typeface="Apple SD Gothic Neo"/>
                <a:cs typeface="Apple SD Gothic Neo"/>
              </a:rPr>
              <a:t>병목·충돌 방지  (통합-1 / 통합-2)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" y="5193792"/>
            <a:ext cx="11430000" cy="11155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1. 브리지 선별 — 전 토픽 브리징은 그 자체가 병목. 이미지는 ros_gz_image 압축.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2. 대역폭 분리 — 원본 이미지는 로컬 노드만, 대시보드는 CompressedImage + 결과 메시지. rosbridge throttle.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3. 실행기 분리 — 제어 루프 200Hz와 비전 추론을 별도 프로세스. 비전은 MultiThreadedExecutor + Reentrant.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4. 시간 동기화 — TF2  map→odom→base_link→{lidar, rgb, thermal, gas}. RGB 15Hz vs 열화상 9Hz는 ApproximateTimeSynchronizer.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5. 네임스페이스 — 보너스② 대비 처음부터 /robot1/… 구조.  대시보드는 수신 시각이 아니라 header.stamp 기준 정렬.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E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73152"/>
            <a:ext cx="9509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CD34D"/>
                </a:solidFill>
                <a:latin typeface="Apple SD Gothic Neo"/>
                <a:ea typeface="Apple SD Gothic Neo"/>
                <a:cs typeface="Apple SD Gothic Neo"/>
              </a:rPr>
              <a:t>발표 서사  ·  Q&amp;A 대비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10896"/>
            <a:ext cx="9692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두 축만 기억하면 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01168"/>
            <a:ext cx="15544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 i="0">
                <a:solidFill>
                  <a:srgbClr val="BFDBFE"/>
                </a:solidFill>
                <a:latin typeface="Apple SD Gothic Neo"/>
                <a:ea typeface="Apple SD Gothic Neo"/>
                <a:cs typeface="Apple SD Gothic Neo"/>
              </a:rPr>
              <a:t>12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6601968"/>
            <a:ext cx="11612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DT_두산에너빌리티  ·  계획 → 실측 → 근거 있는 변경  ·  ROS 2 Jazzy / Gazebo Harmonic / Unitree Go2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" y="868680"/>
            <a:ext cx="5760720" cy="2331720"/>
          </a:xfrm>
          <a:prstGeom prst="roundRect">
            <a:avLst>
              <a:gd name="adj" fmla="val 12000"/>
            </a:avLst>
          </a:prstGeom>
          <a:solidFill>
            <a:srgbClr val="FFFBEB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868680"/>
            <a:ext cx="73152" cy="23317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" y="941832"/>
            <a:ext cx="550468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B45309"/>
                </a:solidFill>
                <a:latin typeface="Apple SD Gothic Neo"/>
                <a:ea typeface="Apple SD Gothic Neo"/>
                <a:cs typeface="Apple SD Gothic Neo"/>
              </a:rPr>
              <a:t>축 1  ·  슬라이드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" y="1216152"/>
            <a:ext cx="5504688" cy="19110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계획 → 실측 → 근거 있는 변경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Humble+Classic을 종이 위에서 고수하지 않았다.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RTF 0.5를 재고, Jazzy+Harmonic으로 바꿨다.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전체-1의 1순위 후보.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868680"/>
            <a:ext cx="5760720" cy="2331720"/>
          </a:xfrm>
          <a:prstGeom prst="roundRect">
            <a:avLst>
              <a:gd name="adj" fmla="val 12000"/>
            </a:avLst>
          </a:prstGeom>
          <a:solidFill>
            <a:srgbClr val="FFF7ED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868680"/>
            <a:ext cx="73152" cy="233172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941832"/>
            <a:ext cx="550468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rPr>
              <a:t>축 2  ·  슬라이드 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1216152"/>
            <a:ext cx="5504688" cy="19110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완주 보장선과 도전선을 분리했다.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stage1을 1-A/1-B로 이중화했고,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1-B 코드는 stage2 MPC와 공유한다.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실패해도 프로젝트가 멈추지 않는다.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" y="3337560"/>
            <a:ext cx="11612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E4A7A"/>
                </a:solidFill>
                <a:latin typeface="Apple SD Gothic Neo"/>
                <a:ea typeface="Apple SD Gothic Neo"/>
                <a:cs typeface="Apple SD Gothic Neo"/>
              </a:rPr>
              <a:t>동료평가 질문 ↔ 오늘 슬라이드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201168" y="3639312"/>
          <a:ext cx="11795759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39"/>
                <a:gridCol w="7589520"/>
              </a:tblGrid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질문</a:t>
                      </a:r>
                    </a:p>
                  </a:txBody>
                  <a:tcPr marL="54864" marR="54864" marT="36576" marB="36576" anchor="ctr">
                    <a:solidFill>
                      <a:srgbClr val="1E4A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오늘 답하는 곳</a:t>
                      </a:r>
                    </a:p>
                  </a:txBody>
                  <a:tcPr marL="54864" marR="54864" marT="36576" marB="36576" anchor="ctr">
                    <a:solidFill>
                      <a:srgbClr val="1E4A7A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DT-1  4요소 역할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슬라이드 3  매핑 표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DT-2 · 통합-1·2  전달·동기화·병목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슬라이드 11  브리지 / QoS / 실행기 분리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DT-3  Sim2Real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보너스③ Sim2Sim (PhysX→DART) + 부록 B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전체-1  가장 어려웠던 문제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슬라이드 4  Apple Silicon + 스택 전환 실측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292608" y="5623560"/>
            <a:ext cx="116128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데모 영상 확보: P2 종료 시 험지 통과  ·  P3 종료 시 게이지 오버레이 + 열화상 퓨전  ·  P4 종료 시 추적 경로  ·  P5 종료 시 통합+대시보드.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발표 직전에 몰리지 않게, 각 Phase 완료 시점에 바로 녹화한다.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